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1" r:id="rId6"/>
    <p:sldId id="279" r:id="rId7"/>
    <p:sldId id="281" r:id="rId8"/>
    <p:sldId id="280" r:id="rId9"/>
    <p:sldId id="257" r:id="rId10"/>
    <p:sldId id="275" r:id="rId11"/>
    <p:sldId id="276" r:id="rId12"/>
    <p:sldId id="282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Learn More" id="{2CC34DB2-6590-42C0-AD4B-A04C6060184E}">
          <p14:sldIdLst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241" autoAdjust="0"/>
  </p:normalViewPr>
  <p:slideViewPr>
    <p:cSldViewPr snapToGrid="0">
      <p:cViewPr varScale="1">
        <p:scale>
          <a:sx n="69" d="100"/>
          <a:sy n="69" d="100"/>
        </p:scale>
        <p:origin x="84" y="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select the arrows to visit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Pharmacy Database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sz="quarter" idx="4294967295"/>
          </p:nvPr>
        </p:nvSpPr>
        <p:spPr>
          <a:xfrm>
            <a:off x="521208" y="1435100"/>
            <a:ext cx="4942614" cy="397827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</a:rPr>
              <a:t>5 Student Name: Mohamed Siddiq</a:t>
            </a:r>
            <a:endParaRPr lang="ar-SA" sz="2400" dirty="0">
              <a:solidFill>
                <a:schemeClr val="bg1"/>
              </a:solidFill>
              <a:latin typeface="+mj-lt"/>
            </a:endParaRPr>
          </a:p>
          <a:p>
            <a:r>
              <a:rPr lang="en-US" sz="2400" dirty="0">
                <a:solidFill>
                  <a:schemeClr val="bg1"/>
                </a:solidFill>
                <a:latin typeface="+mj-lt"/>
              </a:rPr>
              <a:t>Course: DPR400210 – Database </a:t>
            </a:r>
            <a:r>
              <a:rPr lang="en-US" sz="2400" dirty="0" err="1">
                <a:solidFill>
                  <a:schemeClr val="bg1"/>
                </a:solidFill>
                <a:latin typeface="+mj-lt"/>
              </a:rPr>
              <a:t>ProgrammingInstructor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:</a:t>
            </a:r>
            <a:endParaRPr lang="ar-SA" sz="2400" dirty="0">
              <a:solidFill>
                <a:schemeClr val="bg1"/>
              </a:solidFill>
              <a:latin typeface="+mj-lt"/>
            </a:endParaRPr>
          </a:p>
          <a:p>
            <a:r>
              <a:rPr lang="en-US" sz="2400" dirty="0">
                <a:solidFill>
                  <a:schemeClr val="bg1"/>
                </a:solidFill>
                <a:latin typeface="+mj-lt"/>
              </a:rPr>
              <a:t> Eric </a:t>
            </a:r>
            <a:r>
              <a:rPr lang="en-US" sz="2400" dirty="0" err="1">
                <a:solidFill>
                  <a:schemeClr val="bg1"/>
                </a:solidFill>
                <a:latin typeface="+mj-lt"/>
              </a:rPr>
              <a:t>Maniraguha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PowerPoint 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07283" y="5209538"/>
            <a:ext cx="2474189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_Introduction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6AFBF0-C8B6-41FE-A079-4CCFC8ADFC08}"/>
              </a:ext>
            </a:extLst>
          </p:cNvPr>
          <p:cNvSpPr/>
          <p:nvPr/>
        </p:nvSpPr>
        <p:spPr>
          <a:xfrm>
            <a:off x="521207" y="2136339"/>
            <a:ext cx="86227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Introduction</a:t>
            </a:r>
          </a:p>
          <a:p>
            <a:endParaRPr lang="en-US" b="1" dirty="0"/>
          </a:p>
          <a:p>
            <a:r>
              <a:rPr lang="en-US" dirty="0"/>
              <a:t>The Pharmacy Database Management System is designed to automate the daily operations of a pharmacy by efficiently managing medicines, suppliers, customers, and sales transactions.</a:t>
            </a:r>
          </a:p>
          <a:p>
            <a:r>
              <a:rPr lang="en-US" dirty="0"/>
              <a:t>The system was developed using Oracle Database with SQL and PL/SQL to ensure accurate data management, improved security, and better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>
                <a:latin typeface="Segoe UI Light" panose="020B0502040204020203" pitchFamily="34" charset="0"/>
                <a:cs typeface="Segoe UI Light" panose="020B0502040204020203" pitchFamily="34" charset="0"/>
              </a:rPr>
              <a:t>_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Problem Statement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sp>
        <p:nvSpPr>
          <p:cNvPr id="36" name="Content Placeholder 17"/>
          <p:cNvSpPr txBox="1">
            <a:spLocks/>
          </p:cNvSpPr>
          <p:nvPr/>
        </p:nvSpPr>
        <p:spPr>
          <a:xfrm>
            <a:off x="1056513" y="2844450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</a:b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2" name="Content Placeholder 17"/>
          <p:cNvSpPr txBox="1">
            <a:spLocks/>
          </p:cNvSpPr>
          <p:nvPr/>
        </p:nvSpPr>
        <p:spPr>
          <a:xfrm>
            <a:off x="1056513" y="42364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sp>
        <p:nvSpPr>
          <p:cNvPr id="40" name="Content Placeholder 17"/>
          <p:cNvSpPr txBox="1">
            <a:spLocks/>
          </p:cNvSpPr>
          <p:nvPr/>
        </p:nvSpPr>
        <p:spPr>
          <a:xfrm>
            <a:off x="1056513" y="51775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EF6ABA-AAC9-4343-905C-1105F7CB9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record keeping.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DF688-BB55-44AE-BDE9-6A862EEC660C}"/>
              </a:ext>
            </a:extLst>
          </p:cNvPr>
          <p:cNvSpPr/>
          <p:nvPr/>
        </p:nvSpPr>
        <p:spPr>
          <a:xfrm>
            <a:off x="1185333" y="3244334"/>
            <a:ext cx="30931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ar-SA" dirty="0"/>
          </a:p>
          <a:p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BD42E0-2375-45E5-9E23-C2C36B167BAA}"/>
              </a:ext>
            </a:extLst>
          </p:cNvPr>
          <p:cNvSpPr/>
          <p:nvPr/>
        </p:nvSpPr>
        <p:spPr>
          <a:xfrm>
            <a:off x="3804357" y="3244334"/>
            <a:ext cx="31947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A1283B-663E-4CAE-80FC-ACBA3E8D17F2}"/>
              </a:ext>
            </a:extLst>
          </p:cNvPr>
          <p:cNvSpPr/>
          <p:nvPr/>
        </p:nvSpPr>
        <p:spPr>
          <a:xfrm>
            <a:off x="521207" y="1859340"/>
            <a:ext cx="8622793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Problem Statement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Many pharmacies still rely on manual record-keeping, which often leads to: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Difficulty in managing medicine inventory.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Errors in sales recording.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Poor supplier and customer management.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Lack of accurate reports for decision-making.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Increased risk of data loss and inconsistency.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This project provides a computerized solution to overcome these challenges.</a:t>
            </a: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AND Business Process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endParaRPr lang="en-US" b="1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b="1" dirty="0"/>
              <a:t>Project Objectives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The main objectives of this project are: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Manage medicine information efficiently.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Store supplier and customer records.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Record and monitor sales transactions.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Maintain data integrity using database constraints.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Automate business operations using PL/SQL.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Improve database security through users, privileges, and auditing.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F3FFC2-B8A9-4A98-949A-8862689BBAB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031673" y="1952096"/>
            <a:ext cx="7772400" cy="2944283"/>
          </a:xfr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Content Placeholder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/>
          </a:p>
        </p:txBody>
      </p:sp>
      <p:sp>
        <p:nvSpPr>
          <p:cNvPr id="16" name="Content Placeholder 17"/>
          <p:cNvSpPr txBox="1">
            <a:spLocks/>
          </p:cNvSpPr>
          <p:nvPr/>
        </p:nvSpPr>
        <p:spPr>
          <a:xfrm>
            <a:off x="1066040" y="1958189"/>
            <a:ext cx="248632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1066038" y="2936927"/>
            <a:ext cx="2651153" cy="145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ontent Placeholder 17"/>
          <p:cNvSpPr txBox="1">
            <a:spLocks/>
          </p:cNvSpPr>
          <p:nvPr/>
        </p:nvSpPr>
        <p:spPr>
          <a:xfrm>
            <a:off x="1076799" y="4360521"/>
            <a:ext cx="2784602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20" name="Straight Connector 19" descr="Light grey line separating Morph text and images"/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17">
            <a:extLst>
              <a:ext uri="{FF2B5EF4-FFF2-40B4-BE49-F238E27FC236}">
                <a16:creationId xmlns:a16="http://schemas.microsoft.com/office/drawing/2014/main" id="{AD8F45EA-4144-4A5D-B630-98EA4954716E}"/>
              </a:ext>
            </a:extLst>
          </p:cNvPr>
          <p:cNvSpPr txBox="1">
            <a:spLocks/>
          </p:cNvSpPr>
          <p:nvPr/>
        </p:nvSpPr>
        <p:spPr>
          <a:xfrm>
            <a:off x="694009" y="16078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5C1C38-DBEF-491C-B040-E1443C25BC74}"/>
              </a:ext>
            </a:extLst>
          </p:cNvPr>
          <p:cNvSpPr/>
          <p:nvPr/>
        </p:nvSpPr>
        <p:spPr>
          <a:xfrm>
            <a:off x="521208" y="1472430"/>
            <a:ext cx="467490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Database Design</a:t>
            </a:r>
          </a:p>
          <a:p>
            <a:r>
              <a:rPr lang="en-US" dirty="0"/>
              <a:t>The database was designed using Entity Relationship Diagram (ERD) and normalized to Third Normal Form (3NF).</a:t>
            </a:r>
          </a:p>
          <a:p>
            <a:r>
              <a:rPr lang="en-US" dirty="0"/>
              <a:t>The system consists of five main entities: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Suppliers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Medicines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Holidays </a:t>
            </a:r>
          </a:p>
          <a:p>
            <a:r>
              <a:rPr lang="en-US" dirty="0"/>
              <a:t>Relationships between these entities ensure data consistency and eliminate redundancy.</a:t>
            </a:r>
          </a:p>
          <a:p>
            <a:endParaRPr lang="ar-S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CD2B98-49FE-46EE-ACD4-CAFD5583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377" y="2283536"/>
            <a:ext cx="5413822" cy="293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Database Implementation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 flipH="1">
            <a:off x="4955234" y="4049486"/>
            <a:ext cx="2337653" cy="230534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ts val="1800"/>
              </a:lnSpc>
              <a:spcAft>
                <a:spcPts val="2000"/>
              </a:spcAft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3" name="Group 32" descr="Small circle with number 1 inside indicating step 1"/>
          <p:cNvGrpSpPr/>
          <p:nvPr/>
        </p:nvGrpSpPr>
        <p:grpSpPr bwMode="blackWhite">
          <a:xfrm>
            <a:off x="558723" y="4531632"/>
            <a:ext cx="558179" cy="409838"/>
            <a:chOff x="6953426" y="711274"/>
            <a:chExt cx="558179" cy="409838"/>
          </a:xfrm>
        </p:grpSpPr>
        <p:sp>
          <p:nvSpPr>
            <p:cNvPr id="34" name="Oval 3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 descr="Number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Content Placeholder 17"/>
          <p:cNvSpPr txBox="1">
            <a:spLocks/>
          </p:cNvSpPr>
          <p:nvPr/>
        </p:nvSpPr>
        <p:spPr>
          <a:xfrm>
            <a:off x="1040204" y="4609154"/>
            <a:ext cx="2696774" cy="992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</a:p>
        </p:txBody>
      </p:sp>
      <p:grpSp>
        <p:nvGrpSpPr>
          <p:cNvPr id="36" name="Group 35" descr="Small circle with number 2 inside indicating step 2"/>
          <p:cNvGrpSpPr/>
          <p:nvPr/>
        </p:nvGrpSpPr>
        <p:grpSpPr bwMode="blackWhite">
          <a:xfrm>
            <a:off x="4249102" y="4531632"/>
            <a:ext cx="558179" cy="409838"/>
            <a:chOff x="6953426" y="711274"/>
            <a:chExt cx="558179" cy="409838"/>
          </a:xfrm>
        </p:grpSpPr>
        <p:sp>
          <p:nvSpPr>
            <p:cNvPr id="37" name="Oval 36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 descr="Number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grpSp>
        <p:nvGrpSpPr>
          <p:cNvPr id="39" name="Group 38" descr="Small circle with number 3 inside  indicating step 3"/>
          <p:cNvGrpSpPr/>
          <p:nvPr/>
        </p:nvGrpSpPr>
        <p:grpSpPr bwMode="blackWhite">
          <a:xfrm>
            <a:off x="7930921" y="4531632"/>
            <a:ext cx="558179" cy="409838"/>
            <a:chOff x="6953426" y="711274"/>
            <a:chExt cx="558179" cy="409838"/>
          </a:xfrm>
        </p:grpSpPr>
        <p:sp>
          <p:nvSpPr>
            <p:cNvPr id="40" name="Oval 39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 descr="Number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Content Placeholder 17"/>
          <p:cNvSpPr txBox="1">
            <a:spLocks/>
          </p:cNvSpPr>
          <p:nvPr/>
        </p:nvSpPr>
        <p:spPr>
          <a:xfrm>
            <a:off x="8429668" y="4571824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DFA19-B679-4B67-9B8F-B66F816CAAC2}"/>
              </a:ext>
            </a:extLst>
          </p:cNvPr>
          <p:cNvSpPr/>
          <p:nvPr/>
        </p:nvSpPr>
        <p:spPr>
          <a:xfrm>
            <a:off x="1524000" y="4397605"/>
            <a:ext cx="24969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Creating database </a:t>
            </a:r>
            <a:r>
              <a:rPr lang="en-US" dirty="0" err="1"/>
              <a:t>tables.Defining</a:t>
            </a:r>
            <a:r>
              <a:rPr lang="en-US" dirty="0"/>
              <a:t> Primary Keys and Foreign Keys.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6D156-4A05-4014-8499-981E4B824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99" y="2583430"/>
            <a:ext cx="2478858" cy="1200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82EB57-3283-4521-A952-1E81C81E7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744" y="2583430"/>
            <a:ext cx="2972143" cy="14660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C5AC87-5111-4458-9B88-0D6A9FD24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160" y="2583430"/>
            <a:ext cx="3347041" cy="1612162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D51227CD-C927-4BFB-A725-40838098A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Applying Constraints.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Inserting sample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D37AED9-E813-4F2D-9B20-4DCBFA73F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Applying Constraints.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Inserting sample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29E43E3-CEEF-407D-AF4D-6D9CD70D4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Applying Constraints.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Inserting sample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– PL/SQL Features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09" y="1296100"/>
            <a:ext cx="5110161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ontent Placeholder 17"/>
          <p:cNvSpPr txBox="1">
            <a:spLocks/>
          </p:cNvSpPr>
          <p:nvPr/>
        </p:nvSpPr>
        <p:spPr>
          <a:xfrm>
            <a:off x="1066039" y="1646170"/>
            <a:ext cx="3121671" cy="150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5" name="Text Box 16" descr="Select me"/>
          <p:cNvSpPr txBox="1"/>
          <p:nvPr/>
        </p:nvSpPr>
        <p:spPr>
          <a:xfrm rot="21077122">
            <a:off x="6043297" y="1772253"/>
            <a:ext cx="1334770" cy="435610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="" xmlns:ma14="http://schemas.microsoft.com/office/mac/drawingml/2011/main"/>
            </a:ext>
          </a:extLst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200"/>
              </a:spcAft>
              <a:tabLst>
                <a:tab pos="4931410" algn="l"/>
              </a:tabLst>
            </a:pPr>
            <a:r>
              <a:rPr lang="en-US" sz="1200" b="1" kern="1000" spc="100" dirty="0">
                <a:ln>
                  <a:noFill/>
                </a:ln>
                <a:solidFill>
                  <a:srgbClr val="D24726"/>
                </a:solidFill>
                <a:effectLst/>
                <a:latin typeface="Segoe UI Semibold" panose="020B0702040204020203" pitchFamily="34" charset="0"/>
                <a:ea typeface="SimHei" panose="02010609060101010101" pitchFamily="49" charset="-122"/>
                <a:cs typeface="Times New Roman" panose="02020603050405020304" pitchFamily="18" charset="0"/>
              </a:rPr>
              <a:t>SELECT ME</a:t>
            </a:r>
            <a:endParaRPr lang="en-US" sz="1200" b="1" kern="1400" dirty="0">
              <a:solidFill>
                <a:srgbClr val="D24726"/>
              </a:solidFill>
              <a:effectLst/>
              <a:latin typeface="Segoe UI Light" panose="020B0502040204020203" pitchFamily="34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4" name="Picture 23" descr="Curved arrow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61835" flipH="1">
            <a:off x="6740574" y="1787378"/>
            <a:ext cx="851862" cy="939987"/>
          </a:xfrm>
          <a:prstGeom prst="rect">
            <a:avLst/>
          </a:prstGeom>
        </p:spPr>
      </p:pic>
      <p:sp>
        <p:nvSpPr>
          <p:cNvPr id="22" name="Content Placeholder 17"/>
          <p:cNvSpPr txBox="1">
            <a:spLocks/>
          </p:cNvSpPr>
          <p:nvPr/>
        </p:nvSpPr>
        <p:spPr>
          <a:xfrm>
            <a:off x="794118" y="1826545"/>
            <a:ext cx="3504072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ontent Placeholder 17"/>
          <p:cNvSpPr txBox="1">
            <a:spLocks/>
          </p:cNvSpPr>
          <p:nvPr/>
        </p:nvSpPr>
        <p:spPr>
          <a:xfrm>
            <a:off x="1064636" y="4303697"/>
            <a:ext cx="2134038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5EB331-2EE7-47CD-8AEA-3A06FA31F8EF}"/>
              </a:ext>
            </a:extLst>
          </p:cNvPr>
          <p:cNvSpPr/>
          <p:nvPr/>
        </p:nvSpPr>
        <p:spPr>
          <a:xfrm>
            <a:off x="415636" y="1859340"/>
            <a:ext cx="87283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PL/SQL Programming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Advanced Oracle features were implemented, including: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Stored Procedures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Packages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Triggers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Exception Handling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Transaction Control </a:t>
            </a:r>
          </a:p>
          <a:p>
            <a:r>
              <a:rPr lang="en-US" dirty="0"/>
              <a:t>These features automate business processes and improve system performance.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92FC84-8B55-49FF-B8F0-C9F0A807E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556" y="1299546"/>
            <a:ext cx="3826798" cy="15663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41F832-9BB7-4B24-8620-655E4352F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556" y="3077671"/>
            <a:ext cx="3826798" cy="17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Content Placeholder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Content Placeholder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sz="1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Content Placeholder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srgbClr val="D247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Content Placeholder 17"/>
          <p:cNvSpPr txBox="1">
            <a:spLocks/>
          </p:cNvSpPr>
          <p:nvPr/>
        </p:nvSpPr>
        <p:spPr>
          <a:xfrm>
            <a:off x="8429668" y="5273573"/>
            <a:ext cx="3107336" cy="134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4CFE91-1D55-4178-9866-18DB3FD149F8}"/>
              </a:ext>
            </a:extLst>
          </p:cNvPr>
          <p:cNvSpPr/>
          <p:nvPr/>
        </p:nvSpPr>
        <p:spPr>
          <a:xfrm>
            <a:off x="521207" y="1317750"/>
            <a:ext cx="84512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Project Results</a:t>
            </a:r>
          </a:p>
          <a:p>
            <a:r>
              <a:rPr lang="en-US" dirty="0"/>
              <a:t>The developed system successfully: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pharmacy information securely.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Tracks medicine stock levels.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Records customer purchases.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Generates accurate reports.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Enforces business rules using triggers.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data integrity throughout the database. </a:t>
            </a: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Innovation</a:t>
            </a:r>
            <a:br>
              <a:rPr lang="en-US" b="1" dirty="0"/>
            </a:b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442648" cy="3978275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  <a:spcAft>
                <a:spcPts val="0"/>
              </a:spcAft>
            </a:pP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InnovationTo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enhance the project, a Power BI Dashboard was developed to visualize pharmacy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data.The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dashboard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provides:Total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SalesAvailable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MedicinesCustomer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StatisticsSupplier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StatisticsSales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Performance </a:t>
            </a:r>
            <a:r>
              <a:rPr 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ChartsThis</a:t>
            </a: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helps managers make faster and more informed business decisions.</a:t>
            </a:r>
            <a:b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F2235-E8DA-4AAD-8B2C-4221A83EB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8" y="4197927"/>
            <a:ext cx="7412182" cy="265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FBA3-CD06-45D5-948A-6A1B81AC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C6D4E-9AF7-4A91-AAE0-E87A16950D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en-US" b="1" dirty="0"/>
          </a:p>
          <a:p>
            <a:r>
              <a:rPr lang="en-US" b="1" dirty="0"/>
              <a:t>Conclusion</a:t>
            </a:r>
          </a:p>
          <a:p>
            <a:r>
              <a:rPr lang="en-US" dirty="0"/>
              <a:t>The Pharmacy Database Management System demonstrates the practical use of Oracle SQL and PL/SQL in solving real-world business problems.</a:t>
            </a:r>
          </a:p>
          <a:p>
            <a:r>
              <a:rPr lang="en-US" dirty="0"/>
              <a:t>The project improves data accuracy, security, and operational efficiency while providing a scalable solution that can be expanded into a complete web or mobile application in the future.</a:t>
            </a:r>
          </a:p>
          <a:p>
            <a:r>
              <a:rPr lang="en-US" b="1" dirty="0"/>
              <a:t>Thank You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48488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  <ds:schemaRef ds:uri="71af3243-3dd4-4a8d-8c0d-dd76da1f02a5"/>
    <ds:schemaRef ds:uri="http://schemas.microsoft.com/office/infopath/2007/PartnerControls"/>
    <ds:schemaRef ds:uri="16c05727-aa75-4e4a-9b5f-8a80a1165891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0</TotalTime>
  <Words>481</Words>
  <Application>Microsoft Office PowerPoint</Application>
  <PresentationFormat>Widescreen</PresentationFormat>
  <Paragraphs>100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Courier New</vt:lpstr>
      <vt:lpstr>Segoe UI</vt:lpstr>
      <vt:lpstr>Segoe UI Light</vt:lpstr>
      <vt:lpstr>Segoe UI Semibold</vt:lpstr>
      <vt:lpstr>Wingdings</vt:lpstr>
      <vt:lpstr>WelcomeDoc</vt:lpstr>
      <vt:lpstr>Pharmacy Database Management System</vt:lpstr>
      <vt:lpstr>_Introduction</vt:lpstr>
      <vt:lpstr>_Problem Statement</vt:lpstr>
      <vt:lpstr>Objectives AND Business Process</vt:lpstr>
      <vt:lpstr>Database Design</vt:lpstr>
      <vt:lpstr>Database Implementation</vt:lpstr>
      <vt:lpstr> – PL/SQL Features</vt:lpstr>
      <vt:lpstr>Results</vt:lpstr>
      <vt:lpstr>Innovation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2026-07-14T23:34:54Z</dcterms:created>
  <dcterms:modified xsi:type="dcterms:W3CDTF">2026-07-15T00:41:48Z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